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AI-Powered Insurance Claims Intelligence Assistant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38912"/>
            <a:ext cx="12188952" cy="201168"/>
          </a:xfrm>
          <a:prstGeom prst="rect">
            <a:avLst/>
          </a:prstGeom>
          <a:solidFill>
            <a:srgbClr val="07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 i="0">
                <a:solidFill>
                  <a:srgbClr val="00B8D4"/>
                </a:solidFill>
              </a:rPr>
              <a:t>High-Level Executive Overview  |  Multi-Agent RAG Platform  |  Real-time Fraud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694944"/>
            <a:ext cx="1572768" cy="6053328"/>
          </a:xfrm>
          <a:prstGeom prst="rect">
            <a:avLst/>
          </a:prstGeom>
          <a:solidFill>
            <a:srgbClr val="071828"/>
          </a:solidFill>
          <a:ln w="12700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786384"/>
            <a:ext cx="138988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0B8D4"/>
                </a:solidFill>
              </a:rPr>
              <a:t>KEY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79608" y="1097280"/>
            <a:ext cx="1444752" cy="804672"/>
          </a:xfrm>
          <a:prstGeom prst="rect">
            <a:avLst/>
          </a:prstGeom>
          <a:solidFill>
            <a:srgbClr val="013754"/>
          </a:solidFill>
          <a:ln w="10160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52760" y="1143000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15,420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499616"/>
            <a:ext cx="1298448" cy="3291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B0C4D0"/>
                </a:solidFill>
              </a:rPr>
              <a:t>Claims Indexed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79608" y="2011680"/>
            <a:ext cx="1444752" cy="804672"/>
          </a:xfrm>
          <a:prstGeom prst="rect">
            <a:avLst/>
          </a:prstGeom>
          <a:solidFill>
            <a:srgbClr val="005254"/>
          </a:solidFill>
          <a:ln w="10160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52760" y="2057400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2414016"/>
            <a:ext cx="1298448" cy="3291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B0C4D0"/>
                </a:solidFill>
              </a:rPr>
              <a:t>AI Agents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79608" y="2926080"/>
            <a:ext cx="1444752" cy="804672"/>
          </a:xfrm>
          <a:prstGeom prst="rect">
            <a:avLst/>
          </a:prstGeom>
          <a:solidFill>
            <a:srgbClr val="1A237E"/>
          </a:solidFill>
          <a:ln w="10160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52760" y="2971800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90 sec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60" y="3328416"/>
            <a:ext cx="1298448" cy="3291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B0C4D0"/>
                </a:solidFill>
              </a:rPr>
              <a:t>Pipeline Budget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79608" y="3840480"/>
            <a:ext cx="1444752" cy="804672"/>
          </a:xfrm>
          <a:prstGeom prst="rect">
            <a:avLst/>
          </a:prstGeom>
          <a:solidFill>
            <a:srgbClr val="38006B"/>
          </a:solidFill>
          <a:ln w="10160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52760" y="3886200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3-Tier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52760" y="4242816"/>
            <a:ext cx="1298448" cy="3291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B0C4D0"/>
                </a:solidFill>
              </a:rPr>
              <a:t>LLM Fallbacks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79608" y="4754880"/>
            <a:ext cx="1444752" cy="804672"/>
          </a:xfrm>
          <a:prstGeom prst="rect">
            <a:avLst/>
          </a:prstGeom>
          <a:solidFill>
            <a:srgbClr val="2E5E20"/>
          </a:solidFill>
          <a:ln w="10160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52760" y="4800600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600 sec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5157216"/>
            <a:ext cx="1298448" cy="3291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B0C4D0"/>
                </a:solidFill>
              </a:rPr>
              <a:t>Cache TTL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79608" y="5669280"/>
            <a:ext cx="1444752" cy="804672"/>
          </a:xfrm>
          <a:prstGeom prst="rect">
            <a:avLst/>
          </a:prstGeom>
          <a:solidFill>
            <a:srgbClr val="7D1708"/>
          </a:solidFill>
          <a:ln w="10160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52760" y="5715000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6.0 %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2760" y="6071616"/>
            <a:ext cx="1298448" cy="3291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B0C4D0"/>
                </a:solidFill>
              </a:rPr>
              <a:t>Fraud Rate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" y="694944"/>
            <a:ext cx="10149840" cy="749808"/>
          </a:xfrm>
          <a:prstGeom prst="rect">
            <a:avLst/>
          </a:prstGeom>
          <a:solidFill>
            <a:srgbClr val="013A5C"/>
          </a:solidFill>
          <a:ln w="6350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" y="74980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0B8D4"/>
                </a:solidFill>
              </a:rPr>
              <a:t>USER LAYER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73936" y="804672"/>
            <a:ext cx="1389888" cy="530352"/>
          </a:xfrm>
          <a:prstGeom prst="rect">
            <a:avLst/>
          </a:prstGeom>
          <a:solidFill>
            <a:srgbClr val="0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804672"/>
            <a:ext cx="1389888" cy="530352"/>
          </a:xfrm>
          <a:prstGeom prst="rect">
            <a:avLst/>
          </a:prstGeom>
          <a:solidFill>
            <a:srgbClr val="0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Investigate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26864" y="804672"/>
            <a:ext cx="1389888" cy="530352"/>
          </a:xfrm>
          <a:prstGeom prst="rect">
            <a:avLst/>
          </a:prstGeom>
          <a:solidFill>
            <a:srgbClr val="0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Analytics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53328" y="804672"/>
            <a:ext cx="1389888" cy="530352"/>
          </a:xfrm>
          <a:prstGeom prst="rect">
            <a:avLst/>
          </a:prstGeom>
          <a:solidFill>
            <a:srgbClr val="0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Data Ingestion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79792" y="804672"/>
            <a:ext cx="1389888" cy="530352"/>
          </a:xfrm>
          <a:prstGeom prst="rect">
            <a:avLst/>
          </a:prstGeom>
          <a:solidFill>
            <a:srgbClr val="0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System Flow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06256" y="804672"/>
            <a:ext cx="1389888" cy="530352"/>
          </a:xfrm>
          <a:prstGeom prst="rect">
            <a:avLst/>
          </a:prstGeom>
          <a:solidFill>
            <a:srgbClr val="0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Claim Detail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" y="1188720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557080"/>
                </a:solidFill>
              </a:rPr>
              <a:t>React + Vite  |  Axios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129784" y="1444752"/>
            <a:ext cx="0" cy="146304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09728" y="1609344"/>
            <a:ext cx="10149840" cy="2286000"/>
          </a:xfrm>
          <a:prstGeom prst="rect">
            <a:avLst/>
          </a:prstGeom>
          <a:solidFill>
            <a:srgbClr val="061424"/>
          </a:solidFill>
          <a:ln w="15240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9456" y="1673352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B8D4"/>
                </a:solidFill>
              </a:rPr>
              <a:t>AI INTELLIGENCE PLATFORM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169164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557080"/>
                </a:solidFill>
              </a:rPr>
              <a:t>FastAPI Backend  |  LangGraph Orchestration  |  /api/v1  |  90s timeout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1993392"/>
            <a:ext cx="3218688" cy="1755648"/>
          </a:xfrm>
          <a:prstGeom prst="rect">
            <a:avLst/>
          </a:prstGeom>
          <a:solidFill>
            <a:srgbClr val="005C8A"/>
          </a:solidFill>
          <a:ln w="10160">
            <a:solidFill>
              <a:srgbClr val="00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4048" y="2084832"/>
            <a:ext cx="2999232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FRAUD
DETECTION ENGINE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4048" y="2468880"/>
            <a:ext cx="2999232" cy="1828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4048" y="2523744"/>
            <a:ext cx="2999232" cy="11155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B0C4D0"/>
                </a:solidFill>
              </a:rPr>
              <a:t>Multi-signal fraud analysis
using LLM + rule-based scoring
Risk Score: 0.0 – 1.0
Escalation: &gt;= 0.75
Signals: No police report
External agent | No witness
New policy | Address change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75304" y="1993392"/>
            <a:ext cx="3218688" cy="1755648"/>
          </a:xfrm>
          <a:prstGeom prst="rect">
            <a:avLst/>
          </a:prstGeom>
          <a:solidFill>
            <a:srgbClr val="005254"/>
          </a:solidFill>
          <a:ln w="10160">
            <a:solidFill>
              <a:srgbClr val="00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85032" y="2084832"/>
            <a:ext cx="2999232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POLICY
COMPLIANCE CHECKER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85032" y="2468880"/>
            <a:ext cx="2999232" cy="1828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85032" y="2523744"/>
            <a:ext cx="2999232" cy="11155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B0C4D0"/>
                </a:solidFill>
              </a:rPr>
              <a:t>Automated policy rule
validation per claim
5 rules checked:
- 30-day filing window
- Police report required
- Supporting documents
- Coverage match
- Policy active at incident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76288" y="1993392"/>
            <a:ext cx="3218688" cy="1755648"/>
          </a:xfrm>
          <a:prstGeom prst="rect">
            <a:avLst/>
          </a:prstGeom>
          <a:solidFill>
            <a:srgbClr val="1A237E"/>
          </a:solidFill>
          <a:ln w="10160">
            <a:solidFill>
              <a:srgbClr val="00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86016" y="2084832"/>
            <a:ext cx="2999232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INVESTIGATION
RECOMMENDATION ENGINE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86016" y="2468880"/>
            <a:ext cx="2999232" cy="1828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86016" y="2523744"/>
            <a:ext cx="2999232" cy="11155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B0C4D0"/>
                </a:solidFill>
              </a:rPr>
              <a:t>Synthesises all agent outputs
into actionable next steps
3-5 investigation actions
Priority: Immediate / High
            / Standard
AI-generated summary
for claims analyst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129784" y="3895344"/>
            <a:ext cx="0" cy="146304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109728" y="4059935"/>
            <a:ext cx="4974336" cy="2633472"/>
          </a:xfrm>
          <a:prstGeom prst="rect">
            <a:avLst/>
          </a:prstGeom>
          <a:solidFill>
            <a:srgbClr val="1A0430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9456" y="4133087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E93D8"/>
                </a:solidFill>
              </a:rPr>
              <a:t>DATA FOUNDATION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9456" y="4407407"/>
            <a:ext cx="4645152" cy="347472"/>
          </a:xfrm>
          <a:prstGeom prst="rect">
            <a:avLst/>
          </a:prstGeom>
          <a:solidFill>
            <a:srgbClr val="380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9184" y="4443983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Pinecone Vector DB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93392" y="4462271"/>
            <a:ext cx="2871216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B0C4D0"/>
                </a:solidFill>
              </a:rPr>
              <a:t>Semantic search  |  1536-dim  |  Cloud  |  Cosine similarity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19456" y="4818888"/>
            <a:ext cx="4645152" cy="3474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9184" y="4855464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BM25 Keyword Index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93392" y="4873751"/>
            <a:ext cx="2871216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B0C4D0"/>
                </a:solidFill>
              </a:rPr>
              <a:t>Okapi BM25  |  Local pickle  |  Keyword retrieval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19456" y="5230368"/>
            <a:ext cx="4645152" cy="347472"/>
          </a:xfrm>
          <a:prstGeom prst="rect">
            <a:avLst/>
          </a:prstGeom>
          <a:solidFill>
            <a:srgbClr val="004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9184" y="5266944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fraud_oracle.csv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993392" y="5285231"/>
            <a:ext cx="2871216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B0C4D0"/>
                </a:solidFill>
              </a:rPr>
              <a:t>15,420 records  |  33 columns  |  ETL: extract&gt;transform&gt;load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285232" y="4059935"/>
            <a:ext cx="4974336" cy="2633472"/>
          </a:xfrm>
          <a:prstGeom prst="rect">
            <a:avLst/>
          </a:prstGeom>
          <a:solidFill>
            <a:srgbClr val="2A0400"/>
          </a:solidFill>
          <a:ln w="12700">
            <a:solidFill>
              <a:srgbClr val="782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94960" y="4133087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AB40"/>
                </a:solidFill>
              </a:rPr>
              <a:t>AI SERVICES &amp; EVALUATION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394960" y="4407407"/>
            <a:ext cx="4645152" cy="347472"/>
          </a:xfrm>
          <a:prstGeom prst="rect">
            <a:avLst/>
          </a:prstGeom>
          <a:solidFill>
            <a:srgbClr val="015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04688" y="4443983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OpenAI GPT-4o-mini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43216" y="4462271"/>
            <a:ext cx="2706624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B0C4D0"/>
                </a:solidFill>
              </a:rPr>
              <a:t>Primary LLM  |  Fraud analysis  |  Policy checks  |  Recommendations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394960" y="4818888"/>
            <a:ext cx="4645152" cy="347472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504688" y="4855464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Groq llama-3.3-70b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43216" y="4873751"/>
            <a:ext cx="2706624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B0C4D0"/>
                </a:solidFill>
              </a:rPr>
              <a:t>Fallback 1  |  Auto-switch if primary unreachable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394960" y="5230368"/>
            <a:ext cx="4645152" cy="347472"/>
          </a:xfrm>
          <a:prstGeom prst="rect">
            <a:avLst/>
          </a:prstGeom>
          <a:solidFill>
            <a:srgbClr val="782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504688" y="5266944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HuggingFace Mistral-7B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43216" y="5285231"/>
            <a:ext cx="2706624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B0C4D0"/>
                </a:solidFill>
              </a:rPr>
              <a:t>Fallback 2  |  Final safety net in LLM chain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394960" y="5641848"/>
            <a:ext cx="4645152" cy="347472"/>
          </a:xfrm>
          <a:prstGeom prst="rect">
            <a:avLst/>
          </a:prstGeom>
          <a:solidFill>
            <a:srgbClr val="1A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504688" y="5678424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DeepEval RAG Evaluation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43216" y="5696712"/>
            <a:ext cx="2706624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B0C4D0"/>
                </a:solidFill>
              </a:rPr>
              <a:t>Faithfulness  |  AnswerRelevancy  |  ContextualPrecision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9728" y="3913631"/>
            <a:ext cx="10149840" cy="12801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620" b="0" i="1">
                <a:solidFill>
                  <a:srgbClr val="557080"/>
                </a:solidFill>
              </a:rPr>
              <a:t>Hybrid Retrieval: 60% Semantic (Pinecone) + 40% Keyword (BM25)  &gt;  Score fusion  &gt;  Cohere/Cosine reranker  &gt;  Top-5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AI-Powered Insurance Claims Intelligence Assistant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38912"/>
            <a:ext cx="12188952" cy="201168"/>
          </a:xfrm>
          <a:prstGeom prst="rect">
            <a:avLst/>
          </a:prstGeom>
          <a:solidFill>
            <a:srgbClr val="07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 i="0">
                <a:solidFill>
                  <a:srgbClr val="00B8D4"/>
                </a:solidFill>
              </a:rPr>
              <a:t>Component-wise Architecture  |  End-to-End Query Pipeline  |  LangGraph Multi-Agent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76656"/>
            <a:ext cx="11622024" cy="822960"/>
          </a:xfrm>
          <a:prstGeom prst="rect">
            <a:avLst/>
          </a:prstGeom>
          <a:solidFill>
            <a:srgbClr val="013754"/>
          </a:solidFill>
          <a:ln w="7620">
            <a:solidFill>
              <a:srgbClr val="1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676656"/>
            <a:ext cx="329184" cy="822960"/>
          </a:xfrm>
          <a:prstGeom prst="rect">
            <a:avLst/>
          </a:prstGeom>
          <a:solidFill>
            <a:srgbClr val="071828"/>
          </a:solidFill>
          <a:ln w="7620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80" b="1" i="0">
                <a:solidFill>
                  <a:srgbClr val="00B8D4"/>
                </a:solidFill>
              </a:rPr>
              <a:t>CLIENT
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72768"/>
            <a:ext cx="11622024" cy="1481328"/>
          </a:xfrm>
          <a:prstGeom prst="rect">
            <a:avLst/>
          </a:prstGeom>
          <a:solidFill>
            <a:srgbClr val="003E40"/>
          </a:solidFill>
          <a:ln w="7620">
            <a:solidFill>
              <a:srgbClr val="1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1572768"/>
            <a:ext cx="329184" cy="1481328"/>
          </a:xfrm>
          <a:prstGeom prst="rect">
            <a:avLst/>
          </a:prstGeom>
          <a:solidFill>
            <a:srgbClr val="071828"/>
          </a:solidFill>
          <a:ln w="7620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80" b="1" i="0">
                <a:solidFill>
                  <a:srgbClr val="00B8D4"/>
                </a:solidFill>
              </a:rPr>
              <a:t>API &amp;
SAFETY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127248"/>
            <a:ext cx="11622024" cy="2322576"/>
          </a:xfrm>
          <a:prstGeom prst="rect">
            <a:avLst/>
          </a:prstGeom>
          <a:solidFill>
            <a:srgbClr val="081C35"/>
          </a:solidFill>
          <a:ln w="7620">
            <a:solidFill>
              <a:srgbClr val="1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" y="3127248"/>
            <a:ext cx="329184" cy="2322576"/>
          </a:xfrm>
          <a:prstGeom prst="rect">
            <a:avLst/>
          </a:prstGeom>
          <a:solidFill>
            <a:srgbClr val="071828"/>
          </a:solidFill>
          <a:ln w="7620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80" b="1" i="0">
                <a:solidFill>
                  <a:srgbClr val="00B8D4"/>
                </a:solidFill>
              </a:rPr>
              <a:t>ORCHESTRATION
LAYER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522976"/>
            <a:ext cx="11622024" cy="804672"/>
          </a:xfrm>
          <a:prstGeom prst="rect">
            <a:avLst/>
          </a:prstGeom>
          <a:solidFill>
            <a:srgbClr val="2A0745"/>
          </a:solidFill>
          <a:ln w="7620">
            <a:solidFill>
              <a:srgbClr val="1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" y="5522976"/>
            <a:ext cx="329184" cy="804672"/>
          </a:xfrm>
          <a:prstGeom prst="rect">
            <a:avLst/>
          </a:prstGeom>
          <a:solidFill>
            <a:srgbClr val="071828"/>
          </a:solidFill>
          <a:ln w="7620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80" b="1" i="0">
                <a:solidFill>
                  <a:srgbClr val="00B8D4"/>
                </a:solidFill>
              </a:rPr>
              <a:t>DATA
LAYER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400800"/>
            <a:ext cx="11622024" cy="822960"/>
          </a:xfrm>
          <a:prstGeom prst="rect">
            <a:avLst/>
          </a:prstGeom>
          <a:solidFill>
            <a:srgbClr val="4A1200"/>
          </a:solidFill>
          <a:ln w="7620">
            <a:solidFill>
              <a:srgbClr val="1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" y="6400800"/>
            <a:ext cx="329184" cy="822960"/>
          </a:xfrm>
          <a:prstGeom prst="rect">
            <a:avLst/>
          </a:prstGeom>
          <a:solidFill>
            <a:srgbClr val="071828"/>
          </a:solidFill>
          <a:ln w="7620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80" b="1" i="0">
                <a:solidFill>
                  <a:srgbClr val="00B8D4"/>
                </a:solidFill>
              </a:rPr>
              <a:t>AI
SERVICES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786384"/>
            <a:ext cx="1894332" cy="603504"/>
          </a:xfrm>
          <a:prstGeom prst="rect">
            <a:avLst/>
          </a:prstGeom>
          <a:solidFill>
            <a:srgbClr val="00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97836" y="786384"/>
            <a:ext cx="1894332" cy="603504"/>
          </a:xfrm>
          <a:prstGeom prst="rect">
            <a:avLst/>
          </a:prstGeom>
          <a:solidFill>
            <a:srgbClr val="005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Investigate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28744" y="786384"/>
            <a:ext cx="1894332" cy="603504"/>
          </a:xfrm>
          <a:prstGeom prst="rect">
            <a:avLst/>
          </a:prstGeom>
          <a:solidFill>
            <a:srgbClr val="004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Analytics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9652" y="786384"/>
            <a:ext cx="1894332" cy="603504"/>
          </a:xfrm>
          <a:prstGeom prst="rect">
            <a:avLst/>
          </a:prstGeom>
          <a:solidFill>
            <a:srgbClr val="0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Data Ingestion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90560" y="786384"/>
            <a:ext cx="1894332" cy="603504"/>
          </a:xfrm>
          <a:prstGeom prst="rect">
            <a:avLst/>
          </a:prstGeom>
          <a:solidFill>
            <a:srgbClr val="00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System Flow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21468" y="786384"/>
            <a:ext cx="1894332" cy="603504"/>
          </a:xfrm>
          <a:prstGeom prst="rect">
            <a:avLst/>
          </a:prstGeom>
          <a:solidFill>
            <a:srgbClr val="002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Claim Detail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94944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557080"/>
                </a:solidFill>
              </a:rPr>
              <a:t>React + Vite  |  TailwindCSS  |  Axios (120s timeout)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1664208"/>
            <a:ext cx="1894332" cy="1298448"/>
          </a:xfrm>
          <a:prstGeom prst="rect">
            <a:avLst/>
          </a:prstGeom>
          <a:solidFill>
            <a:srgbClr val="0D47A1"/>
          </a:solidFill>
          <a:ln w="5080">
            <a:solidFill>
              <a:srgbClr val="00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1700784"/>
            <a:ext cx="1784604" cy="3291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(1) Small-talk
Fast Path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" y="2048256"/>
            <a:ext cx="1784604" cy="1828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2084832"/>
            <a:ext cx="1784604" cy="8412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620" b="0" i="0">
                <a:solidFill>
                  <a:srgbClr val="B0C4D0"/>
                </a:solidFill>
              </a:rPr>
              <a:t>Regex greetings
~1ms reply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97836" y="1664208"/>
            <a:ext cx="1894332" cy="1298448"/>
          </a:xfrm>
          <a:prstGeom prst="rect">
            <a:avLst/>
          </a:prstGeom>
          <a:solidFill>
            <a:srgbClr val="7D1708"/>
          </a:solidFill>
          <a:ln w="5080">
            <a:solidFill>
              <a:srgbClr val="00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52700" y="1700784"/>
            <a:ext cx="1784604" cy="3291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(2) Input
Guardrails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52700" y="2048256"/>
            <a:ext cx="1784604" cy="1828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52700" y="2084832"/>
            <a:ext cx="1784604" cy="8412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620" b="0" i="0">
                <a:solidFill>
                  <a:srgbClr val="B0C4D0"/>
                </a:solidFill>
              </a:rPr>
              <a:t>Length | Injection
Harmful | Domain
PII (optional)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28744" y="1664208"/>
            <a:ext cx="1894332" cy="1298448"/>
          </a:xfrm>
          <a:prstGeom prst="rect">
            <a:avLst/>
          </a:prstGeom>
          <a:solidFill>
            <a:srgbClr val="014066"/>
          </a:solidFill>
          <a:ln w="5080">
            <a:solidFill>
              <a:srgbClr val="00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3608" y="1700784"/>
            <a:ext cx="1784604" cy="3291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(3) Analytics
Fast Path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3608" y="2048256"/>
            <a:ext cx="1784604" cy="1828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3608" y="2084832"/>
            <a:ext cx="1784604" cy="8412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620" b="0" i="0">
                <a:solidFill>
                  <a:srgbClr val="B0C4D0"/>
                </a:solidFill>
              </a:rPr>
              <a:t>Count / Rate
Regional queries
Direct CSV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9652" y="1664208"/>
            <a:ext cx="1894332" cy="1298448"/>
          </a:xfrm>
          <a:prstGeom prst="rect">
            <a:avLst/>
          </a:prstGeom>
          <a:solidFill>
            <a:srgbClr val="01385E"/>
          </a:solidFill>
          <a:ln w="5080">
            <a:solidFill>
              <a:srgbClr val="00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4516" y="1700784"/>
            <a:ext cx="1784604" cy="3291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(4) Semantic
Query Cache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14516" y="2048256"/>
            <a:ext cx="1784604" cy="1828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4516" y="2084832"/>
            <a:ext cx="1784604" cy="8412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620" b="0" i="0">
                <a:solidFill>
                  <a:srgbClr val="B0C4D0"/>
                </a:solidFill>
              </a:rPr>
              <a:t>MD5 exact match
Cosine &gt;= 0.92
TTL 600s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90560" y="1664208"/>
            <a:ext cx="1894332" cy="1298448"/>
          </a:xfrm>
          <a:prstGeom prst="rect">
            <a:avLst/>
          </a:prstGeom>
          <a:solidFill>
            <a:srgbClr val="631006"/>
          </a:solidFill>
          <a:ln w="5080">
            <a:solidFill>
              <a:srgbClr val="00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45424" y="1700784"/>
            <a:ext cx="1784604" cy="3291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(6) Output
Guardrails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45424" y="2048256"/>
            <a:ext cx="1784604" cy="1828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45424" y="2084832"/>
            <a:ext cx="1784604" cy="8412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620" b="0" i="0">
                <a:solidFill>
                  <a:srgbClr val="B0C4D0"/>
                </a:solidFill>
              </a:rPr>
              <a:t>Clamp [0,1]
Hallucination
Non-empty check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221468" y="1664208"/>
            <a:ext cx="1894332" cy="1298448"/>
          </a:xfrm>
          <a:prstGeom prst="rect">
            <a:avLst/>
          </a:prstGeom>
          <a:solidFill>
            <a:srgbClr val="1A5C4A"/>
          </a:solidFill>
          <a:ln w="5080">
            <a:solidFill>
              <a:srgbClr val="00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76332" y="1700784"/>
            <a:ext cx="1784604" cy="3291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(7) DeepEval
Scoring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76332" y="2048256"/>
            <a:ext cx="1784604" cy="1828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76332" y="2084832"/>
            <a:ext cx="1784604" cy="8412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620" b="0" i="0">
                <a:solidFill>
                  <a:srgbClr val="B0C4D0"/>
                </a:solidFill>
              </a:rPr>
              <a:t>Faithfulness
AnswerRelevancy
ContextualPrec.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1591056"/>
            <a:ext cx="3657600" cy="12801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557080"/>
                </a:solidFill>
              </a:rPr>
              <a:t>FastAPI  /api/v1  |  90-second hard ceiling via asyncio.wait_for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3200400"/>
            <a:ext cx="11439144" cy="274320"/>
          </a:xfrm>
          <a:prstGeom prst="rect">
            <a:avLst/>
          </a:prstGeom>
          <a:solidFill>
            <a:srgbClr val="00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3218688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B8D4"/>
                </a:solidFill>
              </a:rPr>
              <a:t>(5) LangGraph StateGraph Orchestrator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3236976"/>
            <a:ext cx="7964424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B0C4D0"/>
                </a:solidFill>
              </a:rPr>
              <a:t>4 nodes  |  shared ClaimsState  |  A2A conditional escalation  |  per-node timing logs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3529584"/>
            <a:ext cx="2841498" cy="1810512"/>
          </a:xfrm>
          <a:prstGeom prst="rect">
            <a:avLst/>
          </a:prstGeom>
          <a:solidFill>
            <a:srgbClr val="1B5E20"/>
          </a:solidFill>
          <a:ln w="10160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3602736"/>
            <a:ext cx="269519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RETRIEVAL AGENT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" y="3968496"/>
            <a:ext cx="2695194" cy="1828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4023360"/>
            <a:ext cx="2695194" cy="120700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B0C4D0"/>
                </a:solidFill>
              </a:rPr>
              <a:t>Hybrid Search
Pinecone 60% + BM25 40%
Score fusion by parent_id
Cohere / Cosine reranker
Top-5 claims returned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445002" y="3529584"/>
            <a:ext cx="2841498" cy="1810512"/>
          </a:xfrm>
          <a:prstGeom prst="rect">
            <a:avLst/>
          </a:prstGeom>
          <a:solidFill>
            <a:srgbClr val="B71C1C"/>
          </a:solidFill>
          <a:ln w="10160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518154" y="3602736"/>
            <a:ext cx="269519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FRAUD AGENT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18154" y="3968496"/>
            <a:ext cx="2695194" cy="1828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518154" y="4023360"/>
            <a:ext cx="2695194" cy="120700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B0C4D0"/>
                </a:solidFill>
              </a:rPr>
              <a:t>LLM fraud analysis
Rule-based fallback scoring
risk_score: 0.0 – 1.0
Signals: police / witness
agent / supplements
Escalate if &gt;= 0.75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23076" y="3529584"/>
            <a:ext cx="2841498" cy="1810512"/>
          </a:xfrm>
          <a:prstGeom prst="rect">
            <a:avLst/>
          </a:prstGeom>
          <a:solidFill>
            <a:srgbClr val="BF5700"/>
          </a:solidFill>
          <a:ln w="10160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96228" y="3602736"/>
            <a:ext cx="269519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POLICY AGENT
[conditional]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96228" y="3968496"/>
            <a:ext cx="2695194" cy="1828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96228" y="4023360"/>
            <a:ext cx="2695194" cy="120700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B0C4D0"/>
                </a:solidFill>
              </a:rPr>
              <a:t>Skipped if escalated
LLM compliance check:
30-day filing window
Police report required
Coverage match
Policy active at incident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201150" y="3529584"/>
            <a:ext cx="2841498" cy="1810512"/>
          </a:xfrm>
          <a:prstGeom prst="rect">
            <a:avLst/>
          </a:prstGeom>
          <a:solidFill>
            <a:srgbClr val="1A237E"/>
          </a:solidFill>
          <a:ln w="10160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74302" y="3602736"/>
            <a:ext cx="269519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RECOMMENDATION
AGENT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274302" y="3968496"/>
            <a:ext cx="2695194" cy="1828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274302" y="4023360"/>
            <a:ext cx="2695194" cy="120700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B0C4D0"/>
                </a:solidFill>
              </a:rPr>
              <a:t>Synthesises all outputs
3-5 investigation actions
Priority classification:
Immediate / High / Standard
Final AI summary answer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3390138" y="4434840"/>
            <a:ext cx="73152" cy="0"/>
          </a:xfrm>
          <a:prstGeom prst="line">
            <a:avLst/>
          </a:prstGeom>
          <a:ln w="3175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6268212" y="4434840"/>
            <a:ext cx="73152" cy="0"/>
          </a:xfrm>
          <a:prstGeom prst="line">
            <a:avLst/>
          </a:prstGeom>
          <a:ln w="3175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146286" y="4434840"/>
            <a:ext cx="73152" cy="0"/>
          </a:xfrm>
          <a:prstGeom prst="line">
            <a:avLst/>
          </a:prstGeom>
          <a:ln w="3175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6396228" y="5138928"/>
            <a:ext cx="2695194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580" b="0" i="1">
                <a:solidFill>
                  <a:srgbClr val="FF8F00"/>
                </a:solidFill>
              </a:rPr>
              <a:t>* skipped if risk &gt;= 0.75 (A2A escalation)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6928" y="5614416"/>
            <a:ext cx="2841498" cy="621792"/>
          </a:xfrm>
          <a:prstGeom prst="rect">
            <a:avLst/>
          </a:prstGeom>
          <a:solidFill>
            <a:srgbClr val="380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0080" y="5650992"/>
            <a:ext cx="2695194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Pinecone
Vector DB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0080" y="5961888"/>
            <a:ext cx="2695194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B0C4D0"/>
                </a:solidFill>
              </a:rPr>
              <a:t>Cloud  |  Cosine similarity
1536-dim  |  aws us-east-1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445002" y="5614416"/>
            <a:ext cx="2841498" cy="62179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518154" y="5650992"/>
            <a:ext cx="2695194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BM25
Keyword Index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518154" y="5961888"/>
            <a:ext cx="2695194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B0C4D0"/>
                </a:solidFill>
              </a:rPr>
              <a:t>Okapi BM25  |  rank_bm25
Local pickle  |  tokenised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23076" y="5614416"/>
            <a:ext cx="2841498" cy="621792"/>
          </a:xfrm>
          <a:prstGeom prst="rect">
            <a:avLst/>
          </a:prstGeom>
          <a:solidFill>
            <a:srgbClr val="004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96228" y="5650992"/>
            <a:ext cx="2695194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fraud_oracle.csv
(Source Data)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96228" y="5961888"/>
            <a:ext cx="2695194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B0C4D0"/>
                </a:solidFill>
              </a:rPr>
              <a:t>15,420 rows  |  33 cols
1994-1996 historical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201150" y="5614416"/>
            <a:ext cx="2841498" cy="621792"/>
          </a:xfrm>
          <a:prstGeom prst="rect">
            <a:avLst/>
          </a:prstGeom>
          <a:solidFill>
            <a:srgbClr val="01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274302" y="5650992"/>
            <a:ext cx="2695194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ETL Pipeline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274302" y="5961888"/>
            <a:ext cx="2695194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B0C4D0"/>
                </a:solidFill>
              </a:rPr>
              <a:t>extract &gt; transform
chunk 512/64 &gt; load
embed batch 512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66928" y="6492240"/>
            <a:ext cx="1894332" cy="640080"/>
          </a:xfrm>
          <a:prstGeom prst="rect">
            <a:avLst/>
          </a:prstGeom>
          <a:solidFill>
            <a:srgbClr val="015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21792" y="6519672"/>
            <a:ext cx="1784604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OpenAI
GPT-4o-mini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1792" y="6858000"/>
            <a:ext cx="1784604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620" b="0" i="0">
                <a:solidFill>
                  <a:srgbClr val="B0C4D0"/>
                </a:solidFill>
              </a:rPr>
              <a:t>Primary LLM
/v1/chat/completions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497836" y="6492240"/>
            <a:ext cx="1894332" cy="64008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552700" y="6519672"/>
            <a:ext cx="1784604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Groq
llama-3.3-70b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552700" y="6858000"/>
            <a:ext cx="1784604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620" b="0" i="0">
                <a:solidFill>
                  <a:srgbClr val="B0C4D0"/>
                </a:solidFill>
              </a:rPr>
              <a:t>Fallback 1
Free API tier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428744" y="6492240"/>
            <a:ext cx="1894332" cy="640080"/>
          </a:xfrm>
          <a:prstGeom prst="rect">
            <a:avLst/>
          </a:prstGeom>
          <a:solidFill>
            <a:srgbClr val="782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483608" y="6519672"/>
            <a:ext cx="1784604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HuggingFace
Mistral-7B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483608" y="6858000"/>
            <a:ext cx="1784604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620" b="0" i="0">
                <a:solidFill>
                  <a:srgbClr val="B0C4D0"/>
                </a:solidFill>
              </a:rPr>
              <a:t>Fallback 2
Inference API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59652" y="6492240"/>
            <a:ext cx="1894332" cy="640080"/>
          </a:xfrm>
          <a:prstGeom prst="rect">
            <a:avLst/>
          </a:prstGeom>
          <a:solidFill>
            <a:srgbClr val="015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414516" y="6519672"/>
            <a:ext cx="1784604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Embeddings
text-embed-3-small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414516" y="6858000"/>
            <a:ext cx="1784604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620" b="0" i="0">
                <a:solidFill>
                  <a:srgbClr val="B0C4D0"/>
                </a:solidFill>
              </a:rPr>
              <a:t>OpenAI 1536-dim
&gt; fastembed fallback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290560" y="6492240"/>
            <a:ext cx="1894332" cy="640080"/>
          </a:xfrm>
          <a:prstGeom prst="rect">
            <a:avLst/>
          </a:prstGeom>
          <a:solidFill>
            <a:srgbClr val="1A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345424" y="6519672"/>
            <a:ext cx="1784604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DeepEval
RAG Metrics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345424" y="6858000"/>
            <a:ext cx="1784604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620" b="0" i="0">
                <a:solidFill>
                  <a:srgbClr val="B0C4D0"/>
                </a:solidFill>
              </a:rPr>
              <a:t>Faithfulness
AnswerRelevancy
ContextualPrecision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221468" y="6492240"/>
            <a:ext cx="1894332" cy="640080"/>
          </a:xfrm>
          <a:prstGeom prst="rect">
            <a:avLst/>
          </a:prstGeom>
          <a:solidFill>
            <a:srgbClr val="1A4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276332" y="6519672"/>
            <a:ext cx="1784604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LangSmith
(optional)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276332" y="6858000"/>
            <a:ext cx="1784604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620" b="0" i="0">
                <a:solidFill>
                  <a:srgbClr val="B0C4D0"/>
                </a:solidFill>
              </a:rPr>
              <a:t>Tracing &amp; obs.
per-node timing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12024360" y="676656"/>
            <a:ext cx="0" cy="6547104"/>
          </a:xfrm>
          <a:prstGeom prst="line">
            <a:avLst/>
          </a:prstGeom>
          <a:ln w="381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11914632" y="768096"/>
            <a:ext cx="256032" cy="56692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00B8D4"/>
                </a:solidFill>
              </a:rPr>
              <a:t>Q
U
E
R
Y
F
L
O
W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951208" y="1444752"/>
            <a:ext cx="201168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8F00"/>
                </a:solidFill>
              </a:rPr>
              <a:t>v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1951208" y="2999232"/>
            <a:ext cx="201168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8F00"/>
                </a:solidFill>
              </a:rPr>
              <a:t>v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951208" y="5394960"/>
            <a:ext cx="201168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8F00"/>
                </a:solidFill>
              </a:rPr>
              <a:t>v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951208" y="6272784"/>
            <a:ext cx="201168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8F00"/>
                </a:solidFill>
              </a:rPr>
              <a:t>v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3152" y="7296912"/>
            <a:ext cx="12042648" cy="219456"/>
          </a:xfrm>
          <a:prstGeom prst="rect">
            <a:avLst/>
          </a:prstGeom>
          <a:solidFill>
            <a:srgbClr val="06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9728" y="7333488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00B8D4"/>
                </a:solidFill>
              </a:rPr>
              <a:t>LEGEND: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68680" y="7342632"/>
            <a:ext cx="164592" cy="128016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60704" y="7333488"/>
            <a:ext cx="877824" cy="14630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620" b="0" i="0">
                <a:solidFill>
                  <a:srgbClr val="B0C4D0"/>
                </a:solidFill>
              </a:rPr>
              <a:t>Retrieval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965960" y="7342632"/>
            <a:ext cx="164592" cy="128016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157984" y="7333488"/>
            <a:ext cx="877824" cy="14630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620" b="0" i="0">
                <a:solidFill>
                  <a:srgbClr val="B0C4D0"/>
                </a:solidFill>
              </a:rPr>
              <a:t>Fraud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063239" y="7342632"/>
            <a:ext cx="164592" cy="128016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255263" y="7333488"/>
            <a:ext cx="877824" cy="14630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620" b="0" i="0">
                <a:solidFill>
                  <a:srgbClr val="B0C4D0"/>
                </a:solidFill>
              </a:rPr>
              <a:t>Policy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160520" y="7342632"/>
            <a:ext cx="164592" cy="128016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352544" y="7333488"/>
            <a:ext cx="877824" cy="14630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620" b="0" i="0">
                <a:solidFill>
                  <a:srgbClr val="B0C4D0"/>
                </a:solidFill>
              </a:rPr>
              <a:t>Recommendation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257800" y="7342632"/>
            <a:ext cx="164592" cy="128016"/>
          </a:xfrm>
          <a:prstGeom prst="rect">
            <a:avLst/>
          </a:prstGeom>
          <a:solidFill>
            <a:srgbClr val="7D1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449824" y="7333488"/>
            <a:ext cx="877824" cy="14630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620" b="0" i="0">
                <a:solidFill>
                  <a:srgbClr val="B0C4D0"/>
                </a:solidFill>
              </a:rPr>
              <a:t>Guardrails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355080" y="7342632"/>
            <a:ext cx="164592" cy="128016"/>
          </a:xfrm>
          <a:prstGeom prst="rect">
            <a:avLst/>
          </a:prstGeom>
          <a:solidFill>
            <a:srgbClr val="1A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547104" y="7333488"/>
            <a:ext cx="877824" cy="14630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620" b="0" i="0">
                <a:solidFill>
                  <a:srgbClr val="B0C4D0"/>
                </a:solidFill>
              </a:rPr>
              <a:t>Evaluation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452359" y="7342632"/>
            <a:ext cx="164592" cy="128016"/>
          </a:xfrm>
          <a:prstGeom prst="rect">
            <a:avLst/>
          </a:prstGeom>
          <a:solidFill>
            <a:srgbClr val="380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644383" y="7333488"/>
            <a:ext cx="877824" cy="14630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620" b="0" i="0">
                <a:solidFill>
                  <a:srgbClr val="B0C4D0"/>
                </a:solidFill>
              </a:rPr>
              <a:t>Pinecone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549640" y="7342632"/>
            <a:ext cx="164592" cy="128016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741664" y="7333488"/>
            <a:ext cx="877824" cy="14630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620" b="0" i="0">
                <a:solidFill>
                  <a:srgbClr val="B0C4D0"/>
                </a:solidFill>
              </a:rPr>
              <a:t>BM25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646919" y="7342632"/>
            <a:ext cx="164592" cy="128016"/>
          </a:xfrm>
          <a:prstGeom prst="rect">
            <a:avLst/>
          </a:prstGeom>
          <a:solidFill>
            <a:srgbClr val="015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838944" y="7333488"/>
            <a:ext cx="877824" cy="14630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620" b="0" i="0">
                <a:solidFill>
                  <a:srgbClr val="B0C4D0"/>
                </a:solidFill>
              </a:rPr>
              <a:t>OpenAI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0744199" y="7342632"/>
            <a:ext cx="164592" cy="128016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0936224" y="7333488"/>
            <a:ext cx="877824" cy="14630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620" b="0" i="0">
                <a:solidFill>
                  <a:srgbClr val="B0C4D0"/>
                </a:solidFill>
              </a:rPr>
              <a:t>Groq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